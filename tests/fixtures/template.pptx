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C1D0A3B-0000-4000-8000-000000000000}">
          <p14:sldIdLst>
            <p14:sldId id="256"/>
            <p14:sldId id="257"/>
            <p14:sldId id="258"/>
          </p14:sldIdLst>
        </p14:section>
        <p14:section name="Charts" id="{6C1D0A3B-0000-4000-8000-000000000001}">
          <p14:sldIdLst>
            <p14:sldId id="259"/>
            <p14:sldId id="260"/>
          </p14:sldIdLst>
        </p14:section>
        <p14:section name="Appendix" id="{6C1D0A3B-0000-4000-8000-000000000002}">
          <p14:sldIdLst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/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10.5</c:v>
                </c:pt>
                <c:pt idx="1">
                  <c:v>12.0</c:v>
                </c:pt>
                <c:pt idx="2">
                  <c:v>9.75</c:v>
                </c:pt>
                <c:pt idx="3">
                  <c:v>14.0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#,##0.00</c:formatCode>
                <c:ptCount val="4"/>
                <c:pt idx="0">
                  <c:v>11.0</c:v>
                </c:pt>
                <c:pt idx="1">
                  <c:v>13.5</c:v>
                </c:pt>
                <c:pt idx="2">
                  <c:v>10.0</c:v>
                </c:pt>
                <c:pt idx="3">
                  <c:v>15.25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majorTickMark val="out"/>
        <c:minorTickMark val="none"/>
        <c:tickLblPos val="nextTo"/>
        <c:crossAx val="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3.5</c:v>
                </c:pt>
                <c:pt idx="2">
                  <c:v>2.0</c:v>
                </c:pt>
              </c:numCache>
            </c:numRef>
          </c:yVal>
          <c:smooth val="0"/>
        </c:ser>
        <c:axId val="2128940872"/>
        <c:axId val="2129643912"/>
      </c:scatterChart>
      <c:valAx>
        <c:axId val="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29643912"/>
        <c:crosses val="autoZero"/>
        <c:crossBetween val="midCat"/>
      </c:valAx>
      <c:valAx>
        <c:axId val="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Markets</c:v>
                </c:pt>
              </c:strCache>
            </c:strRef>
          </c:tx>
          <c:invertIfNegative val="0"/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yVal>
          <c:bubbleSize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10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2115720072"/>
        <c:axId val="2115723560"/>
      </c:bubbleChart>
      <c:valAx>
        <c:axId val="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15723560"/>
        <c:crosses val="autoZero"/>
        <c:crossBetween val="midCat"/>
      </c:valAx>
      <c:valAx>
        <c:axId val="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{{title}}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/>
              <a:t>Report for {{cust</a:t>
            </a:r>
            <a:r>
              <a:rPr b="0"/>
              <a:t>omer}}</a:t>
            </a:r>
            <a:r>
              <a:rPr b="0"/>
              <a:t> — {{period}}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Revenue Chart"/>
          <p:cNvGraphicFramePr>
            <a:graphicFrameLocks noGrp="1"/>
          </p:cNvGraphicFramePr>
          <p:nvPr/>
        </p:nvGraphicFramePr>
        <p:xfrm>
          <a:off x="4572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Note"/>
          <p:cNvSpPr txBox="1"/>
          <p:nvPr/>
        </p:nvSpPr>
        <p:spPr>
          <a:xfrm>
            <a:off x="6035040" y="1371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{{source}}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customers</a:t>
            </a:r>
          </a:p>
        </p:txBody>
      </p:sp>
      <p:graphicFrame>
        <p:nvGraphicFramePr>
          <p:cNvPr id="3" name="Top Customers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Acme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/>
                        <a:t>Globex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rend"/>
          <p:cNvGraphicFramePr>
            <a:graphicFrameLocks noGrp="1"/>
          </p:cNvGraphicFramePr>
          <p:nvPr/>
        </p:nvGraphicFramePr>
        <p:xfrm>
          <a:off x="457200" y="4572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Share"/>
          <p:cNvGraphicFramePr>
            <a:graphicFrameLocks noGrp="1"/>
          </p:cNvGraphicFramePr>
          <p:nvPr/>
        </p:nvGraphicFramePr>
        <p:xfrm>
          <a:off x="4572000" y="45720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Remove Me"/>
          <p:cNvSpPr txBox="1"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{{optional}}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catter"/>
          <p:cNvGraphicFramePr>
            <a:graphicFrameLocks noGrp="1"/>
          </p:cNvGraphicFramePr>
          <p:nvPr/>
        </p:nvGraphicFramePr>
        <p:xfrm>
          <a:off x="457200" y="4572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Bubbles"/>
          <p:cNvGraphicFramePr>
            <a:graphicFrameLocks noGrp="1"/>
          </p:cNvGraphicFramePr>
          <p:nvPr/>
        </p:nvGraphicFramePr>
        <p:xfrm>
          <a:off x="4572000" y="457200"/>
          <a:ext cx="41148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ard"/>
          <p:cNvGrpSpPr/>
          <p:nvPr/>
        </p:nvGrpSpPr>
        <p:grpSpPr>
          <a:xfrm>
            <a:off x="914400" y="914400"/>
            <a:ext cx="2743200" cy="914400"/>
            <a:chOff x="914400" y="914400"/>
            <a:chExt cx="2743200" cy="914400"/>
          </a:xfrm>
        </p:grpSpPr>
        <p:sp>
          <p:nvSpPr>
            <p:cNvPr id="3" name="Grouped Label"/>
            <p:cNvSpPr txBox="1"/>
            <p:nvPr/>
          </p:nvSpPr>
          <p:spPr>
            <a:xfrm>
              <a:off x="914400" y="9144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Hello {{name}}</a:t>
              </a:r>
            </a:p>
          </p:txBody>
        </p:sp>
      </p:grpSp>
      <p:pic>
        <p:nvPicPr>
          <p:cNvPr id="4" name="Logo" descr="logo:compan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ink">
            <a:hlinkClick action="ppaction://hlinksldjump" r:id="rId2"/>
          </p:cNvPr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 to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